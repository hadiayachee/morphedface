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61" r:id="rId4"/>
    <p:sldId id="267" r:id="rId5"/>
    <p:sldId id="269" r:id="rId6"/>
    <p:sldId id="270" r:id="rId7"/>
    <p:sldId id="268" r:id="rId8"/>
    <p:sldId id="258" r:id="rId9"/>
    <p:sldId id="262" r:id="rId10"/>
    <p:sldId id="263" r:id="rId11"/>
    <p:sldId id="264" r:id="rId12"/>
    <p:sldId id="265" r:id="rId13"/>
    <p:sldId id="266" r:id="rId14"/>
    <p:sldId id="260" r:id="rId15"/>
    <p:sldId id="272" r:id="rId16"/>
    <p:sldId id="271" r:id="rId1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635"/>
    <a:srgbClr val="9EFF29"/>
    <a:srgbClr val="C80064"/>
    <a:srgbClr val="C33A1F"/>
    <a:srgbClr val="0000CC"/>
    <a:srgbClr val="FF2549"/>
    <a:srgbClr val="007033"/>
    <a:srgbClr val="D6370C"/>
    <a:srgbClr val="1D3A00"/>
    <a:srgbClr val="FF85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24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96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27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78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7703" y="1784556"/>
            <a:ext cx="8229600" cy="1688688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Master </a:t>
            </a:r>
            <a:r>
              <a:rPr lang="en-US" dirty="0"/>
              <a:t>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0328" y="3694468"/>
            <a:ext cx="8229600" cy="678426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  <a:r>
              <a:rPr lang="en-US" dirty="0" smtClean="0"/>
              <a:t>Master </a:t>
            </a:r>
            <a:r>
              <a:rPr lang="en-US" dirty="0"/>
              <a:t>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47" y="224337"/>
            <a:ext cx="8259098" cy="763526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4" y="1312606"/>
            <a:ext cx="8246070" cy="3465870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2106" y="406537"/>
            <a:ext cx="6283782" cy="725349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9238" y="1268361"/>
            <a:ext cx="6304935" cy="3420136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692" y="271648"/>
            <a:ext cx="8093365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2131" y="1655517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131" y="2127914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7252" y="1655517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7252" y="2127914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1949" y="1895168"/>
            <a:ext cx="8192728" cy="1445337"/>
          </a:xfrm>
        </p:spPr>
        <p:txBody>
          <a:bodyPr>
            <a:normAutofit/>
          </a:bodyPr>
          <a:lstStyle/>
          <a:p>
            <a:r>
              <a:rPr lang="en-US" dirty="0" smtClean="0"/>
              <a:t>Face Morphing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4575" y="3753458"/>
            <a:ext cx="8192728" cy="730043"/>
          </a:xfrm>
        </p:spPr>
        <p:txBody>
          <a:bodyPr>
            <a:normAutofit/>
          </a:bodyPr>
          <a:lstStyle/>
          <a:p>
            <a:r>
              <a:rPr lang="fr-FR" dirty="0">
                <a:latin typeface="Times New Roman"/>
                <a:cs typeface="Arial"/>
              </a:rPr>
              <a:t>Ali Al Hadi Ayache</a:t>
            </a:r>
          </a:p>
          <a:p>
            <a:endParaRPr lang="fr-FR" dirty="0">
              <a:latin typeface="Times New Roman"/>
              <a:cs typeface="Arial"/>
            </a:endParaRPr>
          </a:p>
        </p:txBody>
      </p:sp>
      <p:sp>
        <p:nvSpPr>
          <p:cNvPr id="4" name="ZoneTexte 11">
            <a:extLst>
              <a:ext uri="{FF2B5EF4-FFF2-40B4-BE49-F238E27FC236}">
                <a16:creationId xmlns:a16="http://schemas.microsoft.com/office/drawing/2014/main" id="{C5968720-20A4-4B4C-B88E-67D990CEA397}"/>
              </a:ext>
            </a:extLst>
          </p:cNvPr>
          <p:cNvSpPr txBox="1"/>
          <p:nvPr/>
        </p:nvSpPr>
        <p:spPr>
          <a:xfrm>
            <a:off x="7494819" y="4647258"/>
            <a:ext cx="142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06/01/2023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07566" y="1612120"/>
            <a:ext cx="6452861" cy="3420136"/>
          </a:xfrm>
        </p:spPr>
        <p:txBody>
          <a:bodyPr>
            <a:normAutofit/>
          </a:bodyPr>
          <a:lstStyle/>
          <a:p>
            <a:r>
              <a:rPr lang="en-US" dirty="0"/>
              <a:t>To blending the images of two faces together.</a:t>
            </a:r>
          </a:p>
          <a:p>
            <a:r>
              <a:rPr lang="en-US" dirty="0"/>
              <a:t>Extract fabricated facial image that contains features of the two original </a:t>
            </a:r>
            <a:r>
              <a:rPr lang="en-US" dirty="0" smtClean="0"/>
              <a:t>faces.</a:t>
            </a:r>
          </a:p>
          <a:p>
            <a:r>
              <a:rPr lang="en-US" dirty="0" smtClean="0"/>
              <a:t>Trying </a:t>
            </a:r>
            <a:r>
              <a:rPr lang="en-US" dirty="0"/>
              <a:t>to g</a:t>
            </a:r>
            <a:r>
              <a:rPr lang="en-US" dirty="0" smtClean="0"/>
              <a:t>et </a:t>
            </a:r>
            <a:r>
              <a:rPr lang="en-US" dirty="0"/>
              <a:t>the best </a:t>
            </a:r>
            <a:r>
              <a:rPr lang="en-US" dirty="0" smtClean="0"/>
              <a:t>result.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the </a:t>
            </a:r>
            <a:r>
              <a:rPr lang="en-US" dirty="0" smtClean="0"/>
              <a:t>risk?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07566" y="1612120"/>
            <a:ext cx="6452861" cy="3420136"/>
          </a:xfrm>
        </p:spPr>
        <p:txBody>
          <a:bodyPr>
            <a:normAutofit/>
          </a:bodyPr>
          <a:lstStyle/>
          <a:p>
            <a:r>
              <a:rPr lang="en-US" sz="2400" dirty="0" smtClean="0"/>
              <a:t>It </a:t>
            </a:r>
            <a:r>
              <a:rPr lang="en-US" sz="2400" dirty="0"/>
              <a:t>could open the door to a flood of fraudulently obtained but genuine (FOG) </a:t>
            </a:r>
            <a:r>
              <a:rPr lang="en-US" sz="2400" dirty="0" smtClean="0"/>
              <a:t>passports.</a:t>
            </a: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37"/>
          <a:stretch/>
        </p:blipFill>
        <p:spPr>
          <a:xfrm>
            <a:off x="6091417" y="2541420"/>
            <a:ext cx="1794422" cy="24152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934" y="2541420"/>
            <a:ext cx="5161905" cy="241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743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Times New Roman"/>
                <a:cs typeface="Times New Roman"/>
              </a:rPr>
              <a:t>Experimental Platform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035850" y="1609842"/>
            <a:ext cx="759020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4000" dirty="0" smtClean="0">
                <a:solidFill>
                  <a:schemeClr val="bg1"/>
                </a:solidFill>
              </a:rPr>
              <a:t>OpenCV</a:t>
            </a:r>
            <a:r>
              <a:rPr lang="en-US" sz="4000" dirty="0" smtClean="0">
                <a:solidFill>
                  <a:schemeClr val="bg1"/>
                </a:solidFill>
              </a:rPr>
              <a:t>-Python</a:t>
            </a:r>
            <a:endParaRPr lang="en-US" sz="4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 smtClean="0">
                <a:solidFill>
                  <a:schemeClr val="bg1"/>
                </a:solidFill>
              </a:rPr>
              <a:t>NumPy</a:t>
            </a:r>
            <a:endParaRPr lang="en-US" sz="4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 smtClean="0">
                <a:solidFill>
                  <a:schemeClr val="bg1"/>
                </a:solidFill>
              </a:rPr>
              <a:t>dlib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886" y="3020993"/>
            <a:ext cx="4135963" cy="178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862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Image Detection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HOG algorithm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131" y="2370983"/>
            <a:ext cx="4040188" cy="2276294"/>
          </a:xfrm>
        </p:spPr>
        <p:txBody>
          <a:bodyPr>
            <a:noAutofit/>
          </a:bodyPr>
          <a:lstStyle/>
          <a:p>
            <a:r>
              <a:rPr lang="en-US" sz="2800" dirty="0" smtClean="0"/>
              <a:t>Face detection using histogram of oriented gradients.</a:t>
            </a:r>
          </a:p>
          <a:p>
            <a:r>
              <a:rPr lang="en-US" sz="2800" dirty="0"/>
              <a:t>d</a:t>
            </a:r>
            <a:r>
              <a:rPr lang="en-US" sz="2800" dirty="0" smtClean="0"/>
              <a:t>lib.get_frontal_face_detector()</a:t>
            </a:r>
            <a:endParaRPr lang="en-US" sz="28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387" y="2128738"/>
            <a:ext cx="3496426" cy="2273498"/>
          </a:xfrm>
        </p:spPr>
      </p:pic>
    </p:spTree>
    <p:extLst>
      <p:ext uri="{BB962C8B-B14F-4D97-AF65-F5344CB8AC3E}">
        <p14:creationId xmlns:p14="http://schemas.microsoft.com/office/powerpoint/2010/main" val="3078168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Image Detection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1271945" y="1161743"/>
            <a:ext cx="4040188" cy="951719"/>
          </a:xfrm>
        </p:spPr>
        <p:txBody>
          <a:bodyPr>
            <a:normAutofit/>
          </a:bodyPr>
          <a:lstStyle/>
          <a:p>
            <a:r>
              <a:rPr lang="en-US" sz="4000" dirty="0" smtClean="0"/>
              <a:t>CNN</a:t>
            </a:r>
            <a:endParaRPr lang="en-US" sz="4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90236" y="1363218"/>
            <a:ext cx="7499121" cy="708650"/>
          </a:xfrm>
        </p:spPr>
        <p:txBody>
          <a:bodyPr>
            <a:noAutofit/>
          </a:bodyPr>
          <a:lstStyle/>
          <a:p>
            <a:pPr algn="l"/>
            <a:r>
              <a:rPr lang="en-US" sz="2000" dirty="0"/>
              <a:t>Feature </a:t>
            </a:r>
            <a:r>
              <a:rPr lang="en-US" sz="2000" dirty="0" smtClean="0"/>
              <a:t>extraction using land mark detection</a:t>
            </a:r>
          </a:p>
          <a:p>
            <a:pPr algn="l"/>
            <a:r>
              <a:rPr lang="en-US" sz="2000" dirty="0"/>
              <a:t>d</a:t>
            </a:r>
            <a:r>
              <a:rPr lang="en-US" sz="2000" dirty="0" smtClean="0"/>
              <a:t>lib.shape_predictor(“shape_predictor_68_face_landmarks.dat”)</a:t>
            </a:r>
            <a:endParaRPr lang="en-US" sz="20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595" y="2155056"/>
            <a:ext cx="6316747" cy="2761480"/>
          </a:xfrm>
        </p:spPr>
      </p:pic>
    </p:spTree>
    <p:extLst>
      <p:ext uri="{BB962C8B-B14F-4D97-AF65-F5344CB8AC3E}">
        <p14:creationId xmlns:p14="http://schemas.microsoft.com/office/powerpoint/2010/main" val="1221462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Image Process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US" sz="3500" dirty="0" smtClean="0"/>
              <a:t>OpenCV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2692" y="2357920"/>
            <a:ext cx="8216755" cy="2549746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OpenCV is a</a:t>
            </a:r>
            <a:r>
              <a:rPr lang="en-US" sz="2800" dirty="0" smtClean="0"/>
              <a:t> </a:t>
            </a:r>
            <a:r>
              <a:rPr lang="en-US" sz="2800" dirty="0"/>
              <a:t>huge open-source library for the computer vision, machine learning, and image </a:t>
            </a:r>
            <a:r>
              <a:rPr lang="en-US" sz="2800" dirty="0" smtClean="0"/>
              <a:t>processing.</a:t>
            </a:r>
          </a:p>
          <a:p>
            <a:pPr algn="l"/>
            <a:r>
              <a:rPr lang="en-US" sz="2800" dirty="0" smtClean="0"/>
              <a:t>cv2.subdiv2d</a:t>
            </a:r>
          </a:p>
          <a:p>
            <a:pPr algn="l"/>
            <a:r>
              <a:rPr lang="en-US" sz="2800" dirty="0" smtClean="0"/>
              <a:t>cv2.getAffineTrasform and cv2.warpAffine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71278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Methodology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336884" y="1526291"/>
            <a:ext cx="1045029" cy="646268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Start</a:t>
            </a:r>
            <a:endParaRPr lang="en-US" dirty="0"/>
          </a:p>
        </p:txBody>
      </p:sp>
      <p:sp>
        <p:nvSpPr>
          <p:cNvPr id="12" name="Pentagon 11"/>
          <p:cNvSpPr/>
          <p:nvPr/>
        </p:nvSpPr>
        <p:spPr>
          <a:xfrm>
            <a:off x="1846846" y="1546344"/>
            <a:ext cx="1148156" cy="606162"/>
          </a:xfrm>
          <a:prstGeom prst="homePlat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Input two Photos</a:t>
            </a:r>
            <a:endParaRPr lang="en-US" sz="1100" dirty="0"/>
          </a:p>
        </p:txBody>
      </p:sp>
      <p:sp>
        <p:nvSpPr>
          <p:cNvPr id="13" name="Pentagon 12"/>
          <p:cNvSpPr/>
          <p:nvPr/>
        </p:nvSpPr>
        <p:spPr>
          <a:xfrm>
            <a:off x="3459935" y="1560666"/>
            <a:ext cx="1662079" cy="591267"/>
          </a:xfrm>
          <a:prstGeom prst="homePlat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Find Point Correspondences using Facial Feature Detection</a:t>
            </a:r>
          </a:p>
        </p:txBody>
      </p:sp>
      <p:sp>
        <p:nvSpPr>
          <p:cNvPr id="14" name="Pentagon 13"/>
          <p:cNvSpPr/>
          <p:nvPr/>
        </p:nvSpPr>
        <p:spPr>
          <a:xfrm>
            <a:off x="5697239" y="1532593"/>
            <a:ext cx="1285660" cy="666894"/>
          </a:xfrm>
          <a:prstGeom prst="homePlat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Delaunay Triangulation</a:t>
            </a:r>
          </a:p>
        </p:txBody>
      </p:sp>
      <p:sp>
        <p:nvSpPr>
          <p:cNvPr id="15" name="Pentagon 14"/>
          <p:cNvSpPr/>
          <p:nvPr/>
        </p:nvSpPr>
        <p:spPr>
          <a:xfrm>
            <a:off x="7433224" y="1532593"/>
            <a:ext cx="1285660" cy="666894"/>
          </a:xfrm>
          <a:prstGeom prst="homePlat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/>
              <a:t>Warping images and alpha blending</a:t>
            </a:r>
          </a:p>
        </p:txBody>
      </p:sp>
      <p:sp>
        <p:nvSpPr>
          <p:cNvPr id="16" name="Flowchart: Decision 15"/>
          <p:cNvSpPr/>
          <p:nvPr/>
        </p:nvSpPr>
        <p:spPr>
          <a:xfrm>
            <a:off x="3740101" y="2677426"/>
            <a:ext cx="1079405" cy="806688"/>
          </a:xfrm>
          <a:prstGeom prst="flowChartDecision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</a:t>
            </a:r>
            <a:r>
              <a:rPr lang="en-US" sz="1100" dirty="0" smtClean="0"/>
              <a:t>lpha </a:t>
            </a:r>
            <a:endParaRPr lang="en-US" sz="1100" dirty="0"/>
          </a:p>
        </p:txBody>
      </p:sp>
      <p:sp>
        <p:nvSpPr>
          <p:cNvPr id="18" name="Flowchart: Manual Operation 17"/>
          <p:cNvSpPr/>
          <p:nvPr/>
        </p:nvSpPr>
        <p:spPr>
          <a:xfrm>
            <a:off x="5766848" y="3924127"/>
            <a:ext cx="1636295" cy="751687"/>
          </a:xfrm>
          <a:prstGeom prst="flowChartManualOperation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Alpha=0</a:t>
            </a:r>
          </a:p>
          <a:p>
            <a:pPr algn="ctr"/>
            <a:r>
              <a:rPr lang="en-US" sz="1200" dirty="0" smtClean="0"/>
              <a:t>First Photo</a:t>
            </a:r>
            <a:endParaRPr lang="en-US" sz="1200" dirty="0"/>
          </a:p>
        </p:txBody>
      </p:sp>
      <p:sp>
        <p:nvSpPr>
          <p:cNvPr id="19" name="Flowchart: Manual Operation 18"/>
          <p:cNvSpPr/>
          <p:nvPr/>
        </p:nvSpPr>
        <p:spPr>
          <a:xfrm>
            <a:off x="1148728" y="3921149"/>
            <a:ext cx="1731976" cy="751687"/>
          </a:xfrm>
          <a:prstGeom prst="flowChartManualOperation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Alpha=1</a:t>
            </a:r>
          </a:p>
          <a:p>
            <a:pPr algn="ctr"/>
            <a:r>
              <a:rPr lang="en-US" sz="1200" dirty="0" smtClean="0"/>
              <a:t>Second Photo</a:t>
            </a:r>
            <a:endParaRPr lang="en-US" sz="1200" dirty="0"/>
          </a:p>
        </p:txBody>
      </p:sp>
      <p:sp>
        <p:nvSpPr>
          <p:cNvPr id="20" name="Flowchart: Manual Operation 19"/>
          <p:cNvSpPr/>
          <p:nvPr/>
        </p:nvSpPr>
        <p:spPr>
          <a:xfrm>
            <a:off x="3459935" y="3901895"/>
            <a:ext cx="1636295" cy="751687"/>
          </a:xfrm>
          <a:prstGeom prst="flowChartManualOperation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Alpha btw(0-1)</a:t>
            </a:r>
          </a:p>
          <a:p>
            <a:pPr algn="ctr"/>
            <a:r>
              <a:rPr lang="en-US" sz="1200" dirty="0" smtClean="0"/>
              <a:t>Morphed</a:t>
            </a:r>
            <a:endParaRPr lang="en-US" sz="1200" dirty="0"/>
          </a:p>
        </p:txBody>
      </p:sp>
      <p:cxnSp>
        <p:nvCxnSpPr>
          <p:cNvPr id="30" name="Straight Arrow Connector 29"/>
          <p:cNvCxnSpPr>
            <a:stCxn id="11" idx="6"/>
            <a:endCxn id="12" idx="1"/>
          </p:cNvCxnSpPr>
          <p:nvPr/>
        </p:nvCxnSpPr>
        <p:spPr>
          <a:xfrm>
            <a:off x="1381913" y="1849425"/>
            <a:ext cx="4649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2" idx="3"/>
            <a:endCxn id="13" idx="1"/>
          </p:cNvCxnSpPr>
          <p:nvPr/>
        </p:nvCxnSpPr>
        <p:spPr>
          <a:xfrm>
            <a:off x="2995002" y="1849425"/>
            <a:ext cx="464933" cy="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3" idx="3"/>
            <a:endCxn id="14" idx="1"/>
          </p:cNvCxnSpPr>
          <p:nvPr/>
        </p:nvCxnSpPr>
        <p:spPr>
          <a:xfrm>
            <a:off x="5122014" y="1856300"/>
            <a:ext cx="575225" cy="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4" idx="3"/>
            <a:endCxn id="15" idx="1"/>
          </p:cNvCxnSpPr>
          <p:nvPr/>
        </p:nvCxnSpPr>
        <p:spPr>
          <a:xfrm>
            <a:off x="6982899" y="1866040"/>
            <a:ext cx="450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15" idx="3"/>
            <a:endCxn id="16" idx="0"/>
          </p:cNvCxnSpPr>
          <p:nvPr/>
        </p:nvCxnSpPr>
        <p:spPr>
          <a:xfrm flipH="1">
            <a:off x="4279804" y="1866040"/>
            <a:ext cx="4439080" cy="811386"/>
          </a:xfrm>
          <a:prstGeom prst="bentConnector4">
            <a:avLst>
              <a:gd name="adj1" fmla="val -5150"/>
              <a:gd name="adj2" fmla="val 7054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/>
          <p:cNvCxnSpPr>
            <a:stCxn id="16" idx="1"/>
            <a:endCxn id="19" idx="0"/>
          </p:cNvCxnSpPr>
          <p:nvPr/>
        </p:nvCxnSpPr>
        <p:spPr>
          <a:xfrm rot="10800000" flipV="1">
            <a:off x="2014717" y="3080769"/>
            <a:ext cx="1725385" cy="84037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>
            <a:stCxn id="16" idx="3"/>
            <a:endCxn id="18" idx="0"/>
          </p:cNvCxnSpPr>
          <p:nvPr/>
        </p:nvCxnSpPr>
        <p:spPr>
          <a:xfrm>
            <a:off x="4819506" y="3080770"/>
            <a:ext cx="1765490" cy="8433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16" idx="2"/>
            <a:endCxn id="20" idx="0"/>
          </p:cNvCxnSpPr>
          <p:nvPr/>
        </p:nvCxnSpPr>
        <p:spPr>
          <a:xfrm flipH="1">
            <a:off x="4278083" y="3484114"/>
            <a:ext cx="1721" cy="417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Facial </a:t>
            </a:r>
            <a:r>
              <a:rPr lang="en-US" dirty="0"/>
              <a:t>landmark detection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07566" y="1536493"/>
            <a:ext cx="6452861" cy="3420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Face landmark estimation is where we identify key points on a face, such as the tip of the nose and the center of the eye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r>
              <a:rPr lang="en-US" sz="2000" dirty="0"/>
              <a:t>we've located the eyebrows, eyes, nose, lips, and chin line. And because the points are predefined, we should already know which of the points make up the </a:t>
            </a:r>
            <a:r>
              <a:rPr lang="en-US" sz="2000" dirty="0" smtClean="0"/>
              <a:t>eyes .</a:t>
            </a:r>
            <a:endParaRPr 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691" y="3217794"/>
            <a:ext cx="3552909" cy="173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40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effectLst/>
              </a:rPr>
              <a:t>Delaunay Triangulation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07566" y="1275235"/>
            <a:ext cx="6452861" cy="3420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Delaunay technique constructs triangular meshes among all landmarks  and is an efficient method for analyzing facial emotions . While the mesh composition only indicates whether edges are connected, we include the squared exponential kernel</a:t>
            </a:r>
            <a:r>
              <a:rPr lang="en-US" sz="2000" dirty="0" smtClean="0"/>
              <a:t>, </a:t>
            </a:r>
            <a:r>
              <a:rPr lang="en-US" sz="2000" dirty="0"/>
              <a:t>radial basis function (RBF</a:t>
            </a:r>
            <a:r>
              <a:rPr lang="en-US" sz="2000" dirty="0" smtClean="0"/>
              <a:t>). </a:t>
            </a:r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567" y="2954367"/>
            <a:ext cx="3127494" cy="203287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89" b="89969" l="9877" r="9876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402" y="3235928"/>
            <a:ext cx="1394612" cy="137309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27062" y="3235928"/>
            <a:ext cx="248538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All triangles in the mesh produce a circumcircle which does not contain any other vertices from the mesh except for the three vertices that define the triangle.</a:t>
            </a:r>
          </a:p>
        </p:txBody>
      </p:sp>
    </p:spTree>
    <p:extLst>
      <p:ext uri="{BB962C8B-B14F-4D97-AF65-F5344CB8AC3E}">
        <p14:creationId xmlns:p14="http://schemas.microsoft.com/office/powerpoint/2010/main" val="3014491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Warping images and alpha </a:t>
            </a:r>
            <a:r>
              <a:rPr lang="en-US" dirty="0" smtClean="0">
                <a:effectLst/>
              </a:rPr>
              <a:t>blending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location of feature points in morphed </a:t>
            </a:r>
            <a:r>
              <a:rPr lang="en-US" dirty="0" smtClean="0"/>
              <a:t>image</a:t>
            </a:r>
          </a:p>
          <a:p>
            <a:r>
              <a:rPr lang="en-US" dirty="0"/>
              <a:t>Calculate affine </a:t>
            </a:r>
            <a:r>
              <a:rPr lang="en-US" dirty="0" smtClean="0"/>
              <a:t>transforms</a:t>
            </a:r>
          </a:p>
          <a:p>
            <a:r>
              <a:rPr lang="en-US" dirty="0"/>
              <a:t>Warp </a:t>
            </a:r>
            <a:r>
              <a:rPr lang="en-US" dirty="0" smtClean="0"/>
              <a:t>triangles</a:t>
            </a:r>
          </a:p>
          <a:p>
            <a:r>
              <a:rPr lang="en-US" dirty="0"/>
              <a:t>Alpha blend warped images</a:t>
            </a:r>
            <a:endParaRPr lang="en-US" dirty="0" smtClean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68636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07985" y="1420638"/>
            <a:ext cx="11936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Calibri" panose="020F0502020204030204" pitchFamily="34" charset="0"/>
              </a:rPr>
              <a:t>Naïve Algorithm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4882" y="1618349"/>
            <a:ext cx="4572000" cy="12311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800"/>
              </a:spcAft>
            </a:pPr>
            <a:r>
              <a:rPr lang="en-IN" sz="1100" dirty="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en-IN" sz="1100" dirty="0">
                <a:solidFill>
                  <a:schemeClr val="bg1"/>
                </a:solidFill>
                <a:latin typeface="Calibri" panose="020F0502020204030204" pitchFamily="34" charset="0"/>
              </a:rPr>
              <a:t>(x, y) = (1 - </a:t>
            </a:r>
            <a:r>
              <a:rPr lang="el-GR" sz="1100" dirty="0">
                <a:solidFill>
                  <a:schemeClr val="bg1"/>
                </a:solidFill>
                <a:latin typeface="Calibri" panose="020F0502020204030204" pitchFamily="34" charset="0"/>
              </a:rPr>
              <a:t>α) </a:t>
            </a:r>
            <a:r>
              <a:rPr lang="en-IN" sz="1100" dirty="0">
                <a:solidFill>
                  <a:schemeClr val="bg1"/>
                </a:solidFill>
                <a:latin typeface="Calibri" panose="020F0502020204030204" pitchFamily="34" charset="0"/>
              </a:rPr>
              <a:t>M (x, y) + </a:t>
            </a:r>
            <a:r>
              <a:rPr lang="el-GR" sz="1100" dirty="0">
                <a:solidFill>
                  <a:schemeClr val="bg1"/>
                </a:solidFill>
                <a:latin typeface="Calibri" panose="020F0502020204030204" pitchFamily="34" charset="0"/>
              </a:rPr>
              <a:t>α </a:t>
            </a:r>
            <a:r>
              <a:rPr lang="en-IN" sz="1100" dirty="0">
                <a:solidFill>
                  <a:schemeClr val="bg1"/>
                </a:solidFill>
                <a:latin typeface="Calibri" panose="020F0502020204030204" pitchFamily="34" charset="0"/>
              </a:rPr>
              <a:t>N (x, y)</a:t>
            </a:r>
            <a:endParaRPr lang="en-IN" sz="10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>
              <a:spcAft>
                <a:spcPts val="800"/>
              </a:spcAft>
            </a:pPr>
            <a:r>
              <a:rPr lang="en-IN" sz="1100" dirty="0">
                <a:solidFill>
                  <a:schemeClr val="bg1"/>
                </a:solidFill>
                <a:latin typeface="Calibri" panose="020F0502020204030204" pitchFamily="34" charset="0"/>
              </a:rPr>
              <a:t>Where I = Intermediate image</a:t>
            </a:r>
            <a:endParaRPr lang="en-IN" sz="10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>
              <a:spcAft>
                <a:spcPts val="800"/>
              </a:spcAft>
            </a:pPr>
            <a:r>
              <a:rPr lang="en-IN" sz="1100" dirty="0">
                <a:solidFill>
                  <a:schemeClr val="bg1"/>
                </a:solidFill>
                <a:latin typeface="Calibri" panose="020F0502020204030204" pitchFamily="34" charset="0"/>
              </a:rPr>
              <a:t>           M = Original image</a:t>
            </a:r>
            <a:endParaRPr lang="en-IN" sz="10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>
              <a:spcAft>
                <a:spcPts val="800"/>
              </a:spcAft>
            </a:pPr>
            <a:r>
              <a:rPr lang="en-IN" sz="1100" dirty="0">
                <a:solidFill>
                  <a:schemeClr val="bg1"/>
                </a:solidFill>
                <a:latin typeface="Calibri" panose="020F0502020204030204" pitchFamily="34" charset="0"/>
              </a:rPr>
              <a:t>            N = Target image </a:t>
            </a: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</a:rPr>
              <a:t>         </a:t>
            </a:r>
            <a:endParaRPr lang="en-IN" sz="14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02058" y="1697637"/>
            <a:ext cx="5826721" cy="943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IN" sz="1400" dirty="0">
                <a:solidFill>
                  <a:schemeClr val="bg1"/>
                </a:solidFill>
                <a:latin typeface="Calibri" panose="020F0502020204030204" pitchFamily="34" charset="0"/>
              </a:rPr>
              <a:t>SM = {m1, m2, m3, ….., mk} and SN = {n1, n2, n3, ….., nk}</a:t>
            </a:r>
            <a:endParaRPr lang="en-IN" sz="11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>
              <a:spcAft>
                <a:spcPts val="800"/>
              </a:spcAft>
            </a:pPr>
            <a:r>
              <a:rPr lang="en-IN" sz="1400" dirty="0">
                <a:solidFill>
                  <a:schemeClr val="bg1"/>
                </a:solidFill>
                <a:latin typeface="Calibri" panose="020F0502020204030204" pitchFamily="34" charset="0"/>
              </a:rPr>
              <a:t>We obtain another set of point SI = {i1, i2, i3, ….., ik}, where</a:t>
            </a:r>
            <a:r>
              <a:rPr lang="en-IN" sz="1400" dirty="0" smtClean="0">
                <a:solidFill>
                  <a:schemeClr val="bg1"/>
                </a:solidFill>
                <a:latin typeface="Calibri" panose="020F0502020204030204" pitchFamily="34" charset="0"/>
              </a:rPr>
              <a:t>,</a:t>
            </a:r>
            <a:endParaRPr lang="en-IN" sz="11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>
              <a:spcAft>
                <a:spcPts val="800"/>
              </a:spcAft>
            </a:pPr>
            <a:r>
              <a:rPr lang="en-IN" sz="1400" dirty="0">
                <a:solidFill>
                  <a:schemeClr val="bg1"/>
                </a:solidFill>
                <a:latin typeface="Calibri" panose="020F0502020204030204" pitchFamily="34" charset="0"/>
              </a:rPr>
              <a:t>ik = (1 - </a:t>
            </a:r>
            <a:r>
              <a:rPr lang="el-GR" sz="1400" dirty="0">
                <a:solidFill>
                  <a:schemeClr val="bg1"/>
                </a:solidFill>
                <a:latin typeface="Calibri" panose="020F0502020204030204" pitchFamily="34" charset="0"/>
              </a:rPr>
              <a:t>α) </a:t>
            </a:r>
            <a:r>
              <a:rPr lang="en-IN" sz="1400" dirty="0">
                <a:solidFill>
                  <a:schemeClr val="bg1"/>
                </a:solidFill>
                <a:latin typeface="Calibri" panose="020F0502020204030204" pitchFamily="34" charset="0"/>
              </a:rPr>
              <a:t>mk + </a:t>
            </a:r>
            <a:r>
              <a:rPr lang="el-GR" sz="1400" dirty="0">
                <a:solidFill>
                  <a:schemeClr val="bg1"/>
                </a:solidFill>
                <a:latin typeface="Calibri" panose="020F0502020204030204" pitchFamily="34" charset="0"/>
              </a:rPr>
              <a:t>α </a:t>
            </a:r>
            <a:r>
              <a:rPr lang="en-IN" sz="1400" dirty="0">
                <a:solidFill>
                  <a:schemeClr val="bg1"/>
                </a:solidFill>
                <a:latin typeface="Calibri" panose="020F0502020204030204" pitchFamily="34" charset="0"/>
              </a:rPr>
              <a:t>nk</a:t>
            </a:r>
            <a:endParaRPr lang="en-IN" sz="1100" b="0" i="0" dirty="0">
              <a:solidFill>
                <a:schemeClr val="bg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0323" y="2978350"/>
            <a:ext cx="647986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 Select 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</a:rPr>
              <a:t>a triangle T from the image M, its corresponding triangle V in the intermediate image I, and calculate the affine transform </a:t>
            </a:r>
            <a:r>
              <a:rPr lang="en-US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that 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</a:rPr>
              <a:t>converts the triangle T to V. </a:t>
            </a:r>
            <a:r>
              <a:rPr lang="en-US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inbuilt 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</a:rPr>
              <a:t>function getAffineTransform, in OpenCV, to obtain the transformation matrix. </a:t>
            </a:r>
            <a:endParaRPr lang="en-US" sz="1200" dirty="0" smtClean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r>
              <a:rPr lang="en-US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Similarly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</a:rPr>
              <a:t>, we calculate the transformation matrix of the corresponding triangle W in the image N to the triangle V. </a:t>
            </a:r>
            <a:endParaRPr lang="en-US" sz="1200" dirty="0" smtClean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r>
              <a:rPr lang="en-US" sz="1200" dirty="0" smtClean="0">
                <a:solidFill>
                  <a:schemeClr val="bg1"/>
                </a:solidFill>
                <a:latin typeface="Calibri" panose="020F0502020204030204" pitchFamily="34" charset="0"/>
              </a:rPr>
              <a:t>Now 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</a:rPr>
              <a:t>we apply the transformations so obtained to all the triangles of both the images M and N, to obtain warped images M’ and N’ . 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71062" y="4330878"/>
            <a:ext cx="3526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</a:rPr>
              <a:t> I (x, y) = (1 - α) M’ (x, y) + α N’ (x, y)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762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92106" y="413412"/>
            <a:ext cx="6283782" cy="725349"/>
          </a:xfrm>
        </p:spPr>
        <p:txBody>
          <a:bodyPr>
            <a:normAutofit/>
          </a:bodyPr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7"/>
          <a:stretch/>
        </p:blipFill>
        <p:spPr>
          <a:xfrm>
            <a:off x="1966304" y="1643169"/>
            <a:ext cx="6936034" cy="303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80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2392106" y="406537"/>
            <a:ext cx="6283782" cy="72534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Conclusion</a:t>
            </a:r>
            <a:endParaRPr 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62947" y="1880252"/>
            <a:ext cx="8597312" cy="342013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>
                <a:solidFill>
                  <a:schemeClr val="bg1"/>
                </a:solidFill>
              </a:rPr>
              <a:t>We Extract image </a:t>
            </a:r>
            <a:r>
              <a:rPr lang="en-US" sz="2000" dirty="0">
                <a:solidFill>
                  <a:schemeClr val="bg1"/>
                </a:solidFill>
              </a:rPr>
              <a:t>that contains features of the two original faces</a:t>
            </a:r>
            <a:r>
              <a:rPr lang="en-US" sz="2000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We used dlib library to detect </a:t>
            </a:r>
            <a:r>
              <a:rPr lang="en-US" sz="2000" dirty="0">
                <a:solidFill>
                  <a:schemeClr val="bg1"/>
                </a:solidFill>
              </a:rPr>
              <a:t>Facial landmark </a:t>
            </a:r>
            <a:endParaRPr lang="en-US" sz="2000" dirty="0" smtClean="0">
              <a:solidFill>
                <a:schemeClr val="bg1"/>
              </a:solidFill>
            </a:endParaRPr>
          </a:p>
          <a:p>
            <a:r>
              <a:rPr lang="en-US" sz="2000" dirty="0" smtClean="0">
                <a:solidFill>
                  <a:schemeClr val="bg1"/>
                </a:solidFill>
              </a:rPr>
              <a:t>We used image processing for </a:t>
            </a:r>
            <a:r>
              <a:rPr lang="en-IN" sz="2000" dirty="0" smtClean="0">
                <a:solidFill>
                  <a:schemeClr val="bg1"/>
                </a:solidFill>
              </a:rPr>
              <a:t>Delaunay Triangulation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Morphing face contain risk as example it </a:t>
            </a:r>
            <a:r>
              <a:rPr lang="en-US" sz="2000" dirty="0">
                <a:solidFill>
                  <a:schemeClr val="bg1"/>
                </a:solidFill>
              </a:rPr>
              <a:t>could open the door to a flood of fraudulently obtained but genuine (FOG) passports.</a:t>
            </a:r>
          </a:p>
          <a:p>
            <a:endParaRPr lang="en-US" sz="2000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00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2392106" y="406537"/>
            <a:ext cx="6283782" cy="72534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Upgrade</a:t>
            </a:r>
            <a:endParaRPr 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90448" y="2485269"/>
            <a:ext cx="8597312" cy="342013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Apply </a:t>
            </a:r>
            <a:r>
              <a:rPr lang="en-US" sz="2800" dirty="0">
                <a:solidFill>
                  <a:schemeClr val="bg1"/>
                </a:solidFill>
              </a:rPr>
              <a:t>face morphing on </a:t>
            </a:r>
            <a:r>
              <a:rPr lang="en-US" sz="2800" dirty="0" smtClean="0">
                <a:solidFill>
                  <a:schemeClr val="bg1"/>
                </a:solidFill>
              </a:rPr>
              <a:t>video </a:t>
            </a:r>
            <a:r>
              <a:rPr lang="en-US" sz="2800" dirty="0">
                <a:solidFill>
                  <a:schemeClr val="bg1"/>
                </a:solidFill>
              </a:rPr>
              <a:t>meetings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56214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2392106" y="406537"/>
            <a:ext cx="6283782" cy="72534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Future Works</a:t>
            </a:r>
            <a:endParaRPr 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97323" y="2279013"/>
            <a:ext cx="8597312" cy="342013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Use the results to test face morphing attack detections </a:t>
            </a:r>
            <a:r>
              <a:rPr lang="en-US" dirty="0" smtClean="0">
                <a:solidFill>
                  <a:schemeClr val="bg1"/>
                </a:solidFill>
              </a:rPr>
              <a:t>accuracy.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270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</Words>
  <Application>Microsoft Office PowerPoint</Application>
  <PresentationFormat>On-screen Show (16:9)</PresentationFormat>
  <Paragraphs>75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Face Morphing</vt:lpstr>
      <vt:lpstr>Objectives</vt:lpstr>
      <vt:lpstr>What are the risk?</vt:lpstr>
      <vt:lpstr>Experimental Platform </vt:lpstr>
      <vt:lpstr>Image Detection</vt:lpstr>
      <vt:lpstr>Image Detection</vt:lpstr>
      <vt:lpstr>Image Process</vt:lpstr>
      <vt:lpstr>Methodology</vt:lpstr>
      <vt:lpstr>Facial landmark detection</vt:lpstr>
      <vt:lpstr>Delaunay Triangulation</vt:lpstr>
      <vt:lpstr>Warping images and alpha blending</vt:lpstr>
      <vt:lpstr>PowerPoint Presentation</vt:lpstr>
      <vt:lpstr>Results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2023-03-22T11:35:35Z</dcterms:modified>
</cp:coreProperties>
</file>